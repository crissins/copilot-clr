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0.svg" ContentType="image/svg"/>
  <Override PartName="/ppt/media/image30.svg" ContentType="image/svg"/>
  <Override PartName="/ppt/media/image22.svg" ContentType="image/svg"/>
  <Override PartName="/ppt/media/image24.svg" ContentType="image/svg"/>
  <Override PartName="/ppt/media/image26.svg" ContentType="image/svg"/>
  <Override PartName="/ppt/media/image28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21B403A-46C0-4F4E-AE4F-0ED70BF064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7642F38-3A4B-476E-AAB5-110B49BF55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68C553B-6F9B-40FE-99F1-892F0E596F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6A026C-0EAD-48D4-A372-A75B1912BB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84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DD4F39-B70C-42CC-A038-08E46118F8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algn="l" defTabSz="4572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28600" algn="l" defTabSz="4572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28600" algn="l" defTabSz="4572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28600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28600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28600" algn="l" defTabSz="4572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B99609-1F29-4AEF-AE33-5F538D8EC4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C5AB736-3CF5-40BD-83E6-6C4830397C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42A4FE-6174-47EC-9E30-3CC144B3E3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5B8968-812F-4D83-943B-C2CAFED42D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288576-A7EF-45AD-9D6F-E444C5882A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44740B-DA7D-42EA-BB55-DCD80305C3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7.png"/><Relationship Id="rId10" Type="http://schemas.openxmlformats.org/officeDocument/2006/relationships/image" Target="../media/image28.svg"/><Relationship Id="rId11" Type="http://schemas.openxmlformats.org/officeDocument/2006/relationships/image" Target="../media/image29.png"/><Relationship Id="rId12" Type="http://schemas.openxmlformats.org/officeDocument/2006/relationships/image" Target="../media/image30.svg"/><Relationship Id="rId1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acc"/>
          <p:cNvSpPr/>
          <p:nvPr/>
        </p:nvSpPr>
        <p:spPr>
          <a:xfrm rot="19600200">
            <a:off x="7998840" y="-398880"/>
            <a:ext cx="4998960" cy="2998800"/>
          </a:xfrm>
          <a:prstGeom prst="rect">
            <a:avLst/>
          </a:prstGeom>
          <a:solidFill>
            <a:srgbClr val="0078D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g"/>
          <p:cNvSpPr/>
          <p:nvPr/>
        </p:nvSpPr>
        <p:spPr>
          <a:xfrm>
            <a:off x="0" y="6657840"/>
            <a:ext cx="12187800" cy="19908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g"/>
          <p:cNvSpPr/>
          <p:nvPr/>
        </p:nvSpPr>
        <p:spPr>
          <a:xfrm>
            <a:off x="0" y="0"/>
            <a:ext cx="118800" cy="685692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b20"/>
          <p:cNvSpPr/>
          <p:nvPr/>
        </p:nvSpPr>
        <p:spPr>
          <a:xfrm>
            <a:off x="200160" y="299880"/>
            <a:ext cx="11787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B4FF"/>
                </a:solidFill>
                <a:effectLst/>
                <a:uFillTx/>
                <a:latin typeface="Calibri"/>
              </a:rPr>
              <a:t>Microsoft Innovation Challenge March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b21"/>
          <p:cNvSpPr/>
          <p:nvPr/>
        </p:nvSpPr>
        <p:spPr>
          <a:xfrm>
            <a:off x="200160" y="1500120"/>
            <a:ext cx="1178784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Copilot CLR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b22"/>
          <p:cNvSpPr/>
          <p:nvPr/>
        </p:nvSpPr>
        <p:spPr>
          <a:xfrm>
            <a:off x="200160" y="3200040"/>
            <a:ext cx="1178784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50B4FF"/>
                </a:solidFill>
                <a:effectLst/>
                <a:uFillTx/>
                <a:latin typeface="Calibri"/>
              </a:rPr>
              <a:t>Cognitive Load Reduction Copilot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b23"/>
          <p:cNvSpPr/>
          <p:nvPr/>
        </p:nvSpPr>
        <p:spPr>
          <a:xfrm>
            <a:off x="200160" y="3800160"/>
            <a:ext cx="1178784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AI Accessibility Assistant for Neurodiverse Users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b23"/>
          <p:cNvSpPr/>
          <p:nvPr/>
        </p:nvSpPr>
        <p:spPr>
          <a:xfrm>
            <a:off x="200160" y="5850720"/>
            <a:ext cx="1178784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Presented by: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5F9FF"/>
              </a:buClr>
              <a:buFont typeface="Calibri"/>
              <a:buChar char="-"/>
            </a:pPr>
            <a:r>
              <a:rPr lang="en-US" sz="1600" b="0" u="none" strike="noStrike">
                <a:solidFill>
                  <a:srgbClr val="F5F9FF"/>
                </a:solidFill>
                <a:effectLst/>
                <a:uFillTx/>
                <a:latin typeface="Calibri"/>
                <a:ea typeface="Calibri"/>
              </a:rPr>
              <a:t>Cristopher Hugo Olivares Del Real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5F9FF"/>
              </a:buClr>
              <a:buFont typeface="Calibri"/>
              <a:buChar char="-"/>
            </a:pPr>
            <a:r>
              <a:rPr lang="en-US" sz="1600" b="0" u="none" strike="noStrike">
                <a:solidFill>
                  <a:srgbClr val="F5F9FF"/>
                </a:solidFill>
                <a:effectLst/>
                <a:uFillTx/>
                <a:latin typeface="Calibri"/>
                <a:ea typeface="Calibri"/>
              </a:rPr>
              <a:t>Jonathan Salvador Herrera Navarro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b20"/>
          <p:cNvSpPr/>
          <p:nvPr/>
        </p:nvSpPr>
        <p:spPr>
          <a:xfrm>
            <a:off x="299880" y="15012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Challenge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bg"/>
          <p:cNvSpPr/>
          <p:nvPr/>
        </p:nvSpPr>
        <p:spPr>
          <a:xfrm>
            <a:off x="0" y="600120"/>
            <a:ext cx="3799080" cy="6256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b21"/>
          <p:cNvSpPr/>
          <p:nvPr/>
        </p:nvSpPr>
        <p:spPr>
          <a:xfrm>
            <a:off x="200160" y="1199880"/>
            <a:ext cx="339876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15–20%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of the global population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is neurodiverse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b22"/>
          <p:cNvSpPr/>
          <p:nvPr/>
        </p:nvSpPr>
        <p:spPr>
          <a:xfrm>
            <a:off x="200160" y="2800080"/>
            <a:ext cx="339876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B4FF"/>
                </a:solidFill>
                <a:effectLst/>
                <a:uFillTx/>
                <a:latin typeface="Calibri"/>
              </a:rPr>
              <a:t>Including individuals with: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ADHD  ·  Autism  ·  Dyslexia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b23"/>
          <p:cNvSpPr/>
          <p:nvPr/>
        </p:nvSpPr>
        <p:spPr>
          <a:xfrm>
            <a:off x="4050000" y="699840"/>
            <a:ext cx="8087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Daily Pain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b24"/>
          <p:cNvSpPr/>
          <p:nvPr/>
        </p:nvSpPr>
        <p:spPr>
          <a:xfrm>
            <a:off x="4050000" y="1100160"/>
            <a:ext cx="8087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Complex, multi-step task instructions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Dense, unstructured documents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Standard AI assistants not designed for their needs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bg"/>
          <p:cNvSpPr/>
          <p:nvPr/>
        </p:nvSpPr>
        <p:spPr>
          <a:xfrm>
            <a:off x="4050000" y="2099880"/>
            <a:ext cx="7938000" cy="1152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b25"/>
          <p:cNvSpPr/>
          <p:nvPr/>
        </p:nvSpPr>
        <p:spPr>
          <a:xfrm>
            <a:off x="4050000" y="2199960"/>
            <a:ext cx="8087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The Gap in AI Today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b26"/>
          <p:cNvSpPr/>
          <p:nvPr/>
        </p:nvSpPr>
        <p:spPr>
          <a:xfrm>
            <a:off x="4050000" y="2599920"/>
            <a:ext cx="808776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Current AI produces verbose, unpredictable responses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Responses can be anxiety-inducing for neurodiverse users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50"/>
              </a:spcBef>
              <a:buClr>
                <a:srgbClr val="0078D4"/>
              </a:buClr>
              <a:buSzPct val="90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Azure tools existed — but had never been assembled into a focused, adaptive experience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b20"/>
          <p:cNvSpPr/>
          <p:nvPr/>
        </p:nvSpPr>
        <p:spPr>
          <a:xfrm>
            <a:off x="299880" y="15012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We Chose This Challenge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b21"/>
          <p:cNvSpPr/>
          <p:nvPr/>
        </p:nvSpPr>
        <p:spPr>
          <a:xfrm>
            <a:off x="299880" y="68004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We believe accessibility is not an edge case — it is a core requirement.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bg"/>
          <p:cNvSpPr/>
          <p:nvPr/>
        </p:nvSpPr>
        <p:spPr>
          <a:xfrm>
            <a:off x="200160" y="1149840"/>
            <a:ext cx="5843520" cy="267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g"/>
          <p:cNvSpPr/>
          <p:nvPr/>
        </p:nvSpPr>
        <p:spPr>
          <a:xfrm>
            <a:off x="200160" y="1149840"/>
            <a:ext cx="5843520" cy="28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120" rIns="90000" bIns="-151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b30"/>
          <p:cNvSpPr/>
          <p:nvPr/>
        </p:nvSpPr>
        <p:spPr>
          <a:xfrm>
            <a:off x="299880" y="1230120"/>
            <a:ext cx="5643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Growing Priority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b31"/>
          <p:cNvSpPr/>
          <p:nvPr/>
        </p:nvSpPr>
        <p:spPr>
          <a:xfrm>
            <a:off x="299880" y="1580040"/>
            <a:ext cx="564336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Workplace &amp; educational neurodiversity is an increasing focus across industries worldwide.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bg"/>
          <p:cNvSpPr/>
          <p:nvPr/>
        </p:nvSpPr>
        <p:spPr>
          <a:xfrm>
            <a:off x="6144480" y="1149840"/>
            <a:ext cx="5843520" cy="267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g"/>
          <p:cNvSpPr/>
          <p:nvPr/>
        </p:nvSpPr>
        <p:spPr>
          <a:xfrm>
            <a:off x="6144480" y="1149840"/>
            <a:ext cx="5843520" cy="288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120" rIns="90000" bIns="-151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b34"/>
          <p:cNvSpPr/>
          <p:nvPr/>
        </p:nvSpPr>
        <p:spPr>
          <a:xfrm>
            <a:off x="6244560" y="1230120"/>
            <a:ext cx="5643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Market Gap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b35"/>
          <p:cNvSpPr/>
          <p:nvPr/>
        </p:nvSpPr>
        <p:spPr>
          <a:xfrm>
            <a:off x="6244560" y="1580040"/>
            <a:ext cx="564336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No mainstream AI assistant currently offers purpose-built accessibility modes for neurodiverse users.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bg"/>
          <p:cNvSpPr/>
          <p:nvPr/>
        </p:nvSpPr>
        <p:spPr>
          <a:xfrm>
            <a:off x="200160" y="3924000"/>
            <a:ext cx="5843520" cy="267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g"/>
          <p:cNvSpPr/>
          <p:nvPr/>
        </p:nvSpPr>
        <p:spPr>
          <a:xfrm>
            <a:off x="200160" y="3924000"/>
            <a:ext cx="5843520" cy="28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120" rIns="90000" bIns="-151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b38"/>
          <p:cNvSpPr/>
          <p:nvPr/>
        </p:nvSpPr>
        <p:spPr>
          <a:xfrm>
            <a:off x="299880" y="4003920"/>
            <a:ext cx="5643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Azure Opportunity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b39"/>
          <p:cNvSpPr/>
          <p:nvPr/>
        </p:nvSpPr>
        <p:spPr>
          <a:xfrm>
            <a:off x="299880" y="4353840"/>
            <a:ext cx="564336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We saw the chance to combine 17 Azure services into one coherent, human-centered product.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bg"/>
          <p:cNvSpPr/>
          <p:nvPr/>
        </p:nvSpPr>
        <p:spPr>
          <a:xfrm>
            <a:off x="6144480" y="3924000"/>
            <a:ext cx="5843520" cy="267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g"/>
          <p:cNvSpPr/>
          <p:nvPr/>
        </p:nvSpPr>
        <p:spPr>
          <a:xfrm>
            <a:off x="6144480" y="3924000"/>
            <a:ext cx="5843520" cy="288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120" rIns="90000" bIns="-151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b42"/>
          <p:cNvSpPr/>
          <p:nvPr/>
        </p:nvSpPr>
        <p:spPr>
          <a:xfrm>
            <a:off x="6244560" y="4003920"/>
            <a:ext cx="5643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Measurable Impact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b43"/>
          <p:cNvSpPr/>
          <p:nvPr/>
        </p:nvSpPr>
        <p:spPr>
          <a:xfrm>
            <a:off x="6244560" y="4353840"/>
            <a:ext cx="564336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Faster task completion, lower cognitive load, and higher independence — all quantifiable outcomes.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g"/>
          <p:cNvSpPr/>
          <p:nvPr/>
        </p:nvSpPr>
        <p:spPr>
          <a:xfrm>
            <a:off x="0" y="600120"/>
            <a:ext cx="4199040" cy="6256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b20"/>
          <p:cNvSpPr/>
          <p:nvPr/>
        </p:nvSpPr>
        <p:spPr>
          <a:xfrm>
            <a:off x="299880" y="150120"/>
            <a:ext cx="3799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Our Solution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b21"/>
          <p:cNvSpPr/>
          <p:nvPr/>
        </p:nvSpPr>
        <p:spPr>
          <a:xfrm>
            <a:off x="200160" y="799920"/>
            <a:ext cx="379908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Copilot CLR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b22"/>
          <p:cNvSpPr/>
          <p:nvPr/>
        </p:nvSpPr>
        <p:spPr>
          <a:xfrm>
            <a:off x="200160" y="1400040"/>
            <a:ext cx="369900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An AI-powered accessibility assistant that transforms complex information into clear, structured, and personalized formats — built for neurodiverse users.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bg"/>
          <p:cNvSpPr/>
          <p:nvPr/>
        </p:nvSpPr>
        <p:spPr>
          <a:xfrm>
            <a:off x="200160" y="2700000"/>
            <a:ext cx="3699000" cy="990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b23"/>
          <p:cNvSpPr/>
          <p:nvPr/>
        </p:nvSpPr>
        <p:spPr>
          <a:xfrm>
            <a:off x="200160" y="2850120"/>
            <a:ext cx="3699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17 Azure Services  ·  Zero Secrets  ·  Responsible AI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bg"/>
          <p:cNvSpPr/>
          <p:nvPr/>
        </p:nvSpPr>
        <p:spPr>
          <a:xfrm>
            <a:off x="4349880" y="65016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g"/>
          <p:cNvSpPr/>
          <p:nvPr/>
        </p:nvSpPr>
        <p:spPr>
          <a:xfrm>
            <a:off x="4349880" y="65016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b30"/>
          <p:cNvSpPr/>
          <p:nvPr/>
        </p:nvSpPr>
        <p:spPr>
          <a:xfrm>
            <a:off x="4430160" y="70992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Step Decomposition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b31"/>
          <p:cNvSpPr/>
          <p:nvPr/>
        </p:nvSpPr>
        <p:spPr>
          <a:xfrm>
            <a:off x="4430160" y="93996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Breaks complex instructions into numbered, time-boxed 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bg"/>
          <p:cNvSpPr/>
          <p:nvPr/>
        </p:nvSpPr>
        <p:spPr>
          <a:xfrm>
            <a:off x="4349880" y="167616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g"/>
          <p:cNvSpPr/>
          <p:nvPr/>
        </p:nvSpPr>
        <p:spPr>
          <a:xfrm>
            <a:off x="4349880" y="167616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b32"/>
          <p:cNvSpPr/>
          <p:nvPr/>
        </p:nvSpPr>
        <p:spPr>
          <a:xfrm>
            <a:off x="4430160" y="173628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Reading Levels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b33"/>
          <p:cNvSpPr/>
          <p:nvPr/>
        </p:nvSpPr>
        <p:spPr>
          <a:xfrm>
            <a:off x="4430160" y="196632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Simplifies documents from Grade 2 to Grade 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bg"/>
          <p:cNvSpPr/>
          <p:nvPr/>
        </p:nvSpPr>
        <p:spPr>
          <a:xfrm>
            <a:off x="4349880" y="270252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g"/>
          <p:cNvSpPr/>
          <p:nvPr/>
        </p:nvSpPr>
        <p:spPr>
          <a:xfrm>
            <a:off x="4349880" y="270252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b34"/>
          <p:cNvSpPr/>
          <p:nvPr/>
        </p:nvSpPr>
        <p:spPr>
          <a:xfrm>
            <a:off x="4430160" y="276264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Neural Voice TTS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b35"/>
          <p:cNvSpPr/>
          <p:nvPr/>
        </p:nvSpPr>
        <p:spPr>
          <a:xfrm>
            <a:off x="4430160" y="299268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Reads responses aloud with calm, measured neural voices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bg"/>
          <p:cNvSpPr/>
          <p:nvPr/>
        </p:nvSpPr>
        <p:spPr>
          <a:xfrm>
            <a:off x="4349880" y="372888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g"/>
          <p:cNvSpPr/>
          <p:nvPr/>
        </p:nvSpPr>
        <p:spPr>
          <a:xfrm>
            <a:off x="4349880" y="372888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b36"/>
          <p:cNvSpPr/>
          <p:nvPr/>
        </p:nvSpPr>
        <p:spPr>
          <a:xfrm>
            <a:off x="4430160" y="378900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User Preferences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b37"/>
          <p:cNvSpPr/>
          <p:nvPr/>
        </p:nvSpPr>
        <p:spPr>
          <a:xfrm>
            <a:off x="4430160" y="401904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Adapts font, contrast, pace, and format per user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bg"/>
          <p:cNvSpPr/>
          <p:nvPr/>
        </p:nvSpPr>
        <p:spPr>
          <a:xfrm>
            <a:off x="4349880" y="475524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g"/>
          <p:cNvSpPr/>
          <p:nvPr/>
        </p:nvSpPr>
        <p:spPr>
          <a:xfrm>
            <a:off x="4349880" y="475524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b38"/>
          <p:cNvSpPr/>
          <p:nvPr/>
        </p:nvSpPr>
        <p:spPr>
          <a:xfrm>
            <a:off x="4430160" y="481536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Real-Time Voice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b39"/>
          <p:cNvSpPr/>
          <p:nvPr/>
        </p:nvSpPr>
        <p:spPr>
          <a:xfrm>
            <a:off x="4430160" y="504540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Full-duplex AI voice conversation support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bg"/>
          <p:cNvSpPr/>
          <p:nvPr/>
        </p:nvSpPr>
        <p:spPr>
          <a:xfrm>
            <a:off x="4349880" y="578160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g"/>
          <p:cNvSpPr/>
          <p:nvPr/>
        </p:nvSpPr>
        <p:spPr>
          <a:xfrm>
            <a:off x="4349880" y="578160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b40"/>
          <p:cNvSpPr/>
          <p:nvPr/>
        </p:nvSpPr>
        <p:spPr>
          <a:xfrm>
            <a:off x="4430160" y="5841720"/>
            <a:ext cx="74880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Responsible AI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b41"/>
          <p:cNvSpPr/>
          <p:nvPr/>
        </p:nvSpPr>
        <p:spPr>
          <a:xfrm>
            <a:off x="4430160" y="6071760"/>
            <a:ext cx="74880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Calm, supportive language enforced by Azure Content Safety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b20"/>
          <p:cNvSpPr/>
          <p:nvPr/>
        </p:nvSpPr>
        <p:spPr>
          <a:xfrm>
            <a:off x="299880" y="15012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We Built With Fluent UI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bg"/>
          <p:cNvSpPr/>
          <p:nvPr/>
        </p:nvSpPr>
        <p:spPr>
          <a:xfrm>
            <a:off x="7989120" y="600120"/>
            <a:ext cx="4199040" cy="625680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b21"/>
          <p:cNvSpPr/>
          <p:nvPr/>
        </p:nvSpPr>
        <p:spPr>
          <a:xfrm>
            <a:off x="8188920" y="799920"/>
            <a:ext cx="3799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0B4FF"/>
                </a:solidFill>
                <a:effectLst/>
                <a:uFillTx/>
                <a:latin typeface="Calibri"/>
              </a:rPr>
              <a:t>Fluent UI is Microsoft's design system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b22"/>
          <p:cNvSpPr/>
          <p:nvPr/>
        </p:nvSpPr>
        <p:spPr>
          <a:xfrm>
            <a:off x="8188920" y="1199880"/>
            <a:ext cx="379908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The same design language used across Teams, Office, and Windows — familiar to millions.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b23"/>
          <p:cNvSpPr/>
          <p:nvPr/>
        </p:nvSpPr>
        <p:spPr>
          <a:xfrm>
            <a:off x="8188920" y="1900080"/>
            <a:ext cx="379908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"For neurodiverse users, familiarity is not a luxury — it reduces cognitive load."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bg"/>
          <p:cNvSpPr/>
          <p:nvPr/>
        </p:nvSpPr>
        <p:spPr>
          <a:xfrm>
            <a:off x="200160" y="650160"/>
            <a:ext cx="7787880" cy="12006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g"/>
          <p:cNvSpPr/>
          <p:nvPr/>
        </p:nvSpPr>
        <p:spPr>
          <a:xfrm>
            <a:off x="200160" y="650160"/>
            <a:ext cx="38880" cy="12006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b30"/>
          <p:cNvSpPr/>
          <p:nvPr/>
        </p:nvSpPr>
        <p:spPr>
          <a:xfrm>
            <a:off x="280080" y="709920"/>
            <a:ext cx="7637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Familiarity Reduces Load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b31"/>
          <p:cNvSpPr/>
          <p:nvPr/>
        </p:nvSpPr>
        <p:spPr>
          <a:xfrm>
            <a:off x="280080" y="960120"/>
            <a:ext cx="763776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Users already know Fluent patterns from Teams and Office.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bg"/>
          <p:cNvSpPr/>
          <p:nvPr/>
        </p:nvSpPr>
        <p:spPr>
          <a:xfrm>
            <a:off x="200160" y="1881720"/>
            <a:ext cx="7787880" cy="12006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g"/>
          <p:cNvSpPr/>
          <p:nvPr/>
        </p:nvSpPr>
        <p:spPr>
          <a:xfrm>
            <a:off x="200160" y="1881720"/>
            <a:ext cx="38880" cy="12006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b32"/>
          <p:cNvSpPr/>
          <p:nvPr/>
        </p:nvSpPr>
        <p:spPr>
          <a:xfrm>
            <a:off x="280080" y="1941480"/>
            <a:ext cx="7637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Accessibility First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b33"/>
          <p:cNvSpPr/>
          <p:nvPr/>
        </p:nvSpPr>
        <p:spPr>
          <a:xfrm>
            <a:off x="280080" y="2191680"/>
            <a:ext cx="763776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Built-in screen reader support, keyboard nav, and high-contrast modes.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bg"/>
          <p:cNvSpPr/>
          <p:nvPr/>
        </p:nvSpPr>
        <p:spPr>
          <a:xfrm>
            <a:off x="200160" y="3113280"/>
            <a:ext cx="7787880" cy="12006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g"/>
          <p:cNvSpPr/>
          <p:nvPr/>
        </p:nvSpPr>
        <p:spPr>
          <a:xfrm>
            <a:off x="200160" y="3113280"/>
            <a:ext cx="38880" cy="12006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b34"/>
          <p:cNvSpPr/>
          <p:nvPr/>
        </p:nvSpPr>
        <p:spPr>
          <a:xfrm>
            <a:off x="280080" y="3173040"/>
            <a:ext cx="7637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Atomic CSS via Griffel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b35"/>
          <p:cNvSpPr/>
          <p:nvPr/>
        </p:nvSpPr>
        <p:spPr>
          <a:xfrm>
            <a:off x="280080" y="3423240"/>
            <a:ext cx="763776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Lightweight, fast UI that never sacrifices performance.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bg"/>
          <p:cNvSpPr/>
          <p:nvPr/>
        </p:nvSpPr>
        <p:spPr>
          <a:xfrm>
            <a:off x="200160" y="4344840"/>
            <a:ext cx="7787880" cy="12006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g"/>
          <p:cNvSpPr/>
          <p:nvPr/>
        </p:nvSpPr>
        <p:spPr>
          <a:xfrm>
            <a:off x="200160" y="4344840"/>
            <a:ext cx="38880" cy="12006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b36"/>
          <p:cNvSpPr/>
          <p:nvPr/>
        </p:nvSpPr>
        <p:spPr>
          <a:xfrm>
            <a:off x="280080" y="4404960"/>
            <a:ext cx="7637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Predictable Components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b37"/>
          <p:cNvSpPr/>
          <p:nvPr/>
        </p:nvSpPr>
        <p:spPr>
          <a:xfrm>
            <a:off x="280080" y="4654800"/>
            <a:ext cx="763776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Consistent, low-noise components reduce anxiety.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bg"/>
          <p:cNvSpPr/>
          <p:nvPr/>
        </p:nvSpPr>
        <p:spPr>
          <a:xfrm>
            <a:off x="200160" y="5576400"/>
            <a:ext cx="7787880" cy="12006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g"/>
          <p:cNvSpPr/>
          <p:nvPr/>
        </p:nvSpPr>
        <p:spPr>
          <a:xfrm>
            <a:off x="200160" y="5576400"/>
            <a:ext cx="38880" cy="12006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b38"/>
          <p:cNvSpPr/>
          <p:nvPr/>
        </p:nvSpPr>
        <p:spPr>
          <a:xfrm>
            <a:off x="280080" y="5636520"/>
            <a:ext cx="7637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Full Theming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b39"/>
          <p:cNvSpPr/>
          <p:nvPr/>
        </p:nvSpPr>
        <p:spPr>
          <a:xfrm>
            <a:off x="280080" y="5886360"/>
            <a:ext cx="763776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Color overlays, dyslexia-friendly fonts, and reduced-motion modes.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b20"/>
          <p:cNvSpPr/>
          <p:nvPr/>
        </p:nvSpPr>
        <p:spPr>
          <a:xfrm>
            <a:off x="299880" y="150120"/>
            <a:ext cx="11787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We Used the Microsoft Agent Framework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bg"/>
          <p:cNvSpPr/>
          <p:nvPr/>
        </p:nvSpPr>
        <p:spPr>
          <a:xfrm>
            <a:off x="0" y="600120"/>
            <a:ext cx="4199040" cy="6256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b21"/>
          <p:cNvSpPr/>
          <p:nvPr/>
        </p:nvSpPr>
        <p:spPr>
          <a:xfrm>
            <a:off x="200160" y="799920"/>
            <a:ext cx="379908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Microsoft Agent Framework (MAF)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b22"/>
          <p:cNvSpPr/>
          <p:nvPr/>
        </p:nvSpPr>
        <p:spPr>
          <a:xfrm>
            <a:off x="200160" y="1350000"/>
            <a:ext cx="379908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The unified successor to Semantic Kernel and AutoGen — combining enterprise stability with cutting-edge multi-agent orchestration.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b23"/>
          <p:cNvSpPr/>
          <p:nvPr/>
        </p:nvSpPr>
        <p:spPr>
          <a:xfrm>
            <a:off x="200160" y="2599920"/>
            <a:ext cx="379908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Three Specialized Agents: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Task Decomposer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Speech Assistant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Content Adapter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bg"/>
          <p:cNvSpPr/>
          <p:nvPr/>
        </p:nvSpPr>
        <p:spPr>
          <a:xfrm>
            <a:off x="4349880" y="65016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g"/>
          <p:cNvSpPr/>
          <p:nvPr/>
        </p:nvSpPr>
        <p:spPr>
          <a:xfrm>
            <a:off x="4349880" y="65016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b30"/>
          <p:cNvSpPr/>
          <p:nvPr/>
        </p:nvSpPr>
        <p:spPr>
          <a:xfrm>
            <a:off x="4430160" y="70992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Single SDK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b31"/>
          <p:cNvSpPr/>
          <p:nvPr/>
        </p:nvSpPr>
        <p:spPr>
          <a:xfrm>
            <a:off x="4430160" y="96012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Enterprise stability + cutting-edge multi-agent orchestration in one package.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bg"/>
          <p:cNvSpPr/>
          <p:nvPr/>
        </p:nvSpPr>
        <p:spPr>
          <a:xfrm>
            <a:off x="4349880" y="167616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g"/>
          <p:cNvSpPr/>
          <p:nvPr/>
        </p:nvSpPr>
        <p:spPr>
          <a:xfrm>
            <a:off x="4349880" y="167616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b32"/>
          <p:cNvSpPr/>
          <p:nvPr/>
        </p:nvSpPr>
        <p:spPr>
          <a:xfrm>
            <a:off x="4430160" y="173628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PromptAgentDefinition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b33"/>
          <p:cNvSpPr/>
          <p:nvPr/>
        </p:nvSpPr>
        <p:spPr>
          <a:xfrm>
            <a:off x="4430160" y="198648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Deploy specialized agents with distinct personas and tools.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bg"/>
          <p:cNvSpPr/>
          <p:nvPr/>
        </p:nvSpPr>
        <p:spPr>
          <a:xfrm>
            <a:off x="4349880" y="270252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g"/>
          <p:cNvSpPr/>
          <p:nvPr/>
        </p:nvSpPr>
        <p:spPr>
          <a:xfrm>
            <a:off x="4349880" y="270252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b34"/>
          <p:cNvSpPr/>
          <p:nvPr/>
        </p:nvSpPr>
        <p:spPr>
          <a:xfrm>
            <a:off x="4430160" y="276264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Azure AI Foundry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b35"/>
          <p:cNvSpPr/>
          <p:nvPr/>
        </p:nvSpPr>
        <p:spPr>
          <a:xfrm>
            <a:off x="4430160" y="301284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Native integration with AI Foundry Agent Service.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bg"/>
          <p:cNvSpPr/>
          <p:nvPr/>
        </p:nvSpPr>
        <p:spPr>
          <a:xfrm>
            <a:off x="4349880" y="372888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g"/>
          <p:cNvSpPr/>
          <p:nvPr/>
        </p:nvSpPr>
        <p:spPr>
          <a:xfrm>
            <a:off x="4349880" y="372888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b36"/>
          <p:cNvSpPr/>
          <p:nvPr/>
        </p:nvSpPr>
        <p:spPr>
          <a:xfrm>
            <a:off x="4430160" y="378900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Tool Binding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b37"/>
          <p:cNvSpPr/>
          <p:nvPr/>
        </p:nvSpPr>
        <p:spPr>
          <a:xfrm>
            <a:off x="4430160" y="403884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Azure AI Search, Cosmos DB, and Service Bus — zero glue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bg"/>
          <p:cNvSpPr/>
          <p:nvPr/>
        </p:nvSpPr>
        <p:spPr>
          <a:xfrm>
            <a:off x="4349880" y="4755240"/>
            <a:ext cx="7637760" cy="99540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g"/>
          <p:cNvSpPr/>
          <p:nvPr/>
        </p:nvSpPr>
        <p:spPr>
          <a:xfrm>
            <a:off x="4349880" y="4755240"/>
            <a:ext cx="38880" cy="99540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b38"/>
          <p:cNvSpPr/>
          <p:nvPr/>
        </p:nvSpPr>
        <p:spPr>
          <a:xfrm>
            <a:off x="4430160" y="481536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Voice Live SDK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b39"/>
          <p:cNvSpPr/>
          <p:nvPr/>
        </p:nvSpPr>
        <p:spPr>
          <a:xfrm>
            <a:off x="4430160" y="506520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Connects agents directly to real-time voice sessions.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bg"/>
          <p:cNvSpPr/>
          <p:nvPr/>
        </p:nvSpPr>
        <p:spPr>
          <a:xfrm>
            <a:off x="4349880" y="5781600"/>
            <a:ext cx="7637760" cy="9954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bg"/>
          <p:cNvSpPr/>
          <p:nvPr/>
        </p:nvSpPr>
        <p:spPr>
          <a:xfrm>
            <a:off x="4349880" y="5781600"/>
            <a:ext cx="38880" cy="9954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b40"/>
          <p:cNvSpPr/>
          <p:nvPr/>
        </p:nvSpPr>
        <p:spPr>
          <a:xfrm>
            <a:off x="4430160" y="5841720"/>
            <a:ext cx="7488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E3D"/>
                </a:solidFill>
                <a:effectLst/>
                <a:uFillTx/>
                <a:latin typeface="Calibri"/>
              </a:rPr>
              <a:t>Built-in Telemetry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b41"/>
          <p:cNvSpPr/>
          <p:nvPr/>
        </p:nvSpPr>
        <p:spPr>
          <a:xfrm>
            <a:off x="4430160" y="6091560"/>
            <a:ext cx="7488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OpenTelemetry + Application Insights out of the box.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b20"/>
          <p:cNvSpPr/>
          <p:nvPr/>
        </p:nvSpPr>
        <p:spPr>
          <a:xfrm>
            <a:off x="299880" y="15012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Powered by 17 Azure Services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bg"/>
          <p:cNvSpPr/>
          <p:nvPr/>
        </p:nvSpPr>
        <p:spPr>
          <a:xfrm>
            <a:off x="0" y="6608160"/>
            <a:ext cx="12187800" cy="248760"/>
          </a:xfrm>
          <a:prstGeom prst="rect">
            <a:avLst/>
          </a:prstGeom>
          <a:solidFill>
            <a:srgbClr val="0A14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b21"/>
          <p:cNvSpPr/>
          <p:nvPr/>
        </p:nvSpPr>
        <p:spPr>
          <a:xfrm>
            <a:off x="299880" y="6648120"/>
            <a:ext cx="11588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Zero-secret architecture — all services connected via Managed Identity and RBAC.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bg"/>
          <p:cNvSpPr/>
          <p:nvPr/>
        </p:nvSpPr>
        <p:spPr>
          <a:xfrm>
            <a:off x="200160" y="699840"/>
            <a:ext cx="2296800" cy="5887080"/>
          </a:xfrm>
          <a:prstGeom prst="rect">
            <a:avLst/>
          </a:prstGeom>
          <a:solidFill>
            <a:srgbClr val="16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bg"/>
          <p:cNvSpPr/>
          <p:nvPr/>
        </p:nvSpPr>
        <p:spPr>
          <a:xfrm>
            <a:off x="200160" y="699840"/>
            <a:ext cx="2296800" cy="7884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920" rIns="90000" bIns="349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b30"/>
          <p:cNvSpPr/>
          <p:nvPr/>
        </p:nvSpPr>
        <p:spPr>
          <a:xfrm>
            <a:off x="259920" y="799920"/>
            <a:ext cx="217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AI &amp; Agents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b31"/>
          <p:cNvSpPr/>
          <p:nvPr/>
        </p:nvSpPr>
        <p:spPr>
          <a:xfrm>
            <a:off x="259920" y="1149840"/>
            <a:ext cx="217656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OpenAI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AI Foundry Hub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AI 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Content Safety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bg"/>
          <p:cNvSpPr/>
          <p:nvPr/>
        </p:nvSpPr>
        <p:spPr>
          <a:xfrm>
            <a:off x="2557800" y="699840"/>
            <a:ext cx="2296800" cy="5887080"/>
          </a:xfrm>
          <a:prstGeom prst="rect">
            <a:avLst/>
          </a:prstGeom>
          <a:solidFill>
            <a:srgbClr val="16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bg"/>
          <p:cNvSpPr/>
          <p:nvPr/>
        </p:nvSpPr>
        <p:spPr>
          <a:xfrm>
            <a:off x="2557800" y="699840"/>
            <a:ext cx="2296800" cy="7884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920" rIns="90000" bIns="349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b40"/>
          <p:cNvSpPr/>
          <p:nvPr/>
        </p:nvSpPr>
        <p:spPr>
          <a:xfrm>
            <a:off x="2617920" y="799920"/>
            <a:ext cx="217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Accessibility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b41"/>
          <p:cNvSpPr/>
          <p:nvPr/>
        </p:nvSpPr>
        <p:spPr>
          <a:xfrm>
            <a:off x="2617920" y="1149840"/>
            <a:ext cx="217656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Speech Service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Immersive Reader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Document Intelligence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bg"/>
          <p:cNvSpPr/>
          <p:nvPr/>
        </p:nvSpPr>
        <p:spPr>
          <a:xfrm>
            <a:off x="4915440" y="699840"/>
            <a:ext cx="2296800" cy="5887080"/>
          </a:xfrm>
          <a:prstGeom prst="rect">
            <a:avLst/>
          </a:prstGeom>
          <a:solidFill>
            <a:srgbClr val="16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bg"/>
          <p:cNvSpPr/>
          <p:nvPr/>
        </p:nvSpPr>
        <p:spPr>
          <a:xfrm>
            <a:off x="4915440" y="699840"/>
            <a:ext cx="2296800" cy="78840"/>
          </a:xfrm>
          <a:prstGeom prst="rect">
            <a:avLst/>
          </a:prstGeom>
          <a:solidFill>
            <a:srgbClr val="00B2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920" rIns="90000" bIns="349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b50"/>
          <p:cNvSpPr/>
          <p:nvPr/>
        </p:nvSpPr>
        <p:spPr>
          <a:xfrm>
            <a:off x="4975560" y="799920"/>
            <a:ext cx="217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294"/>
                </a:solidFill>
                <a:effectLst/>
                <a:uFillTx/>
                <a:latin typeface="Calibri"/>
              </a:rPr>
              <a:t>Real-Time Voice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b51"/>
          <p:cNvSpPr/>
          <p:nvPr/>
        </p:nvSpPr>
        <p:spPr>
          <a:xfrm>
            <a:off x="4975560" y="1149840"/>
            <a:ext cx="217656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Web PubSub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Voice Live SDK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bg"/>
          <p:cNvSpPr/>
          <p:nvPr/>
        </p:nvSpPr>
        <p:spPr>
          <a:xfrm>
            <a:off x="7273440" y="699840"/>
            <a:ext cx="2296800" cy="5887080"/>
          </a:xfrm>
          <a:prstGeom prst="rect">
            <a:avLst/>
          </a:prstGeom>
          <a:solidFill>
            <a:srgbClr val="16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bg"/>
          <p:cNvSpPr/>
          <p:nvPr/>
        </p:nvSpPr>
        <p:spPr>
          <a:xfrm>
            <a:off x="7273440" y="699840"/>
            <a:ext cx="2296800" cy="78840"/>
          </a:xfrm>
          <a:prstGeom prst="rect">
            <a:avLst/>
          </a:prstGeom>
          <a:solidFill>
            <a:srgbClr val="8A2B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920" rIns="90000" bIns="349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b60"/>
          <p:cNvSpPr/>
          <p:nvPr/>
        </p:nvSpPr>
        <p:spPr>
          <a:xfrm>
            <a:off x="7333200" y="799920"/>
            <a:ext cx="217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8A2BE2"/>
                </a:solidFill>
                <a:effectLst/>
                <a:uFillTx/>
                <a:latin typeface="Calibri"/>
              </a:rPr>
              <a:t>Data &amp; Storage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b61"/>
          <p:cNvSpPr/>
          <p:nvPr/>
        </p:nvSpPr>
        <p:spPr>
          <a:xfrm>
            <a:off x="7333200" y="1149840"/>
            <a:ext cx="217656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Cosmos 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Blob Storage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Key Vault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bg"/>
          <p:cNvSpPr/>
          <p:nvPr/>
        </p:nvSpPr>
        <p:spPr>
          <a:xfrm>
            <a:off x="9631080" y="699840"/>
            <a:ext cx="2296800" cy="5887080"/>
          </a:xfrm>
          <a:prstGeom prst="rect">
            <a:avLst/>
          </a:prstGeom>
          <a:solidFill>
            <a:srgbClr val="16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bg"/>
          <p:cNvSpPr/>
          <p:nvPr/>
        </p:nvSpPr>
        <p:spPr>
          <a:xfrm>
            <a:off x="9631080" y="699840"/>
            <a:ext cx="2296800" cy="7884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920" rIns="90000" bIns="349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b70"/>
          <p:cNvSpPr/>
          <p:nvPr/>
        </p:nvSpPr>
        <p:spPr>
          <a:xfrm>
            <a:off x="9691200" y="799920"/>
            <a:ext cx="217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Compute &amp; 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b71"/>
          <p:cNvSpPr/>
          <p:nvPr/>
        </p:nvSpPr>
        <p:spPr>
          <a:xfrm>
            <a:off x="9691200" y="1149840"/>
            <a:ext cx="217656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Container Apps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Container Registry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Static Web Apps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Service Bus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2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Monitor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n 11"/>
          <p:cNvPicPr/>
          <p:nvPr/>
        </p:nvPicPr>
        <p:blipFill>
          <a:blip r:embed="rId1"/>
          <a:stretch/>
        </p:blipFill>
        <p:spPr>
          <a:xfrm>
            <a:off x="313200" y="2590560"/>
            <a:ext cx="921960" cy="9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Imagen 12"/>
          <p:cNvPicPr/>
          <p:nvPr/>
        </p:nvPicPr>
        <p:blipFill>
          <a:blip r:embed="rId2"/>
          <a:stretch/>
        </p:blipFill>
        <p:spPr>
          <a:xfrm>
            <a:off x="1348920" y="35056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Imagen 13"/>
          <p:cNvPicPr/>
          <p:nvPr/>
        </p:nvPicPr>
        <p:blipFill>
          <a:blip r:embed="rId3"/>
          <a:stretch/>
        </p:blipFill>
        <p:spPr>
          <a:xfrm>
            <a:off x="308880" y="440496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Imagen 14"/>
          <p:cNvPicPr/>
          <p:nvPr/>
        </p:nvPicPr>
        <p:blipFill>
          <a:blip r:embed="rId4"/>
          <a:stretch/>
        </p:blipFill>
        <p:spPr>
          <a:xfrm>
            <a:off x="1348920" y="530424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Imagen 15"/>
          <p:cNvPicPr/>
          <p:nvPr/>
        </p:nvPicPr>
        <p:blipFill>
          <a:blip r:embed="rId5"/>
          <a:stretch/>
        </p:blipFill>
        <p:spPr>
          <a:xfrm>
            <a:off x="2782800" y="27190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Imagen 16"/>
          <p:cNvPicPr/>
          <p:nvPr/>
        </p:nvPicPr>
        <p:blipFill>
          <a:blip r:embed="rId6"/>
          <a:stretch/>
        </p:blipFill>
        <p:spPr>
          <a:xfrm>
            <a:off x="3710520" y="384300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Imagen 17"/>
          <p:cNvPicPr/>
          <p:nvPr/>
        </p:nvPicPr>
        <p:blipFill>
          <a:blip r:embed="rId7"/>
          <a:stretch/>
        </p:blipFill>
        <p:spPr>
          <a:xfrm>
            <a:off x="3049920" y="484056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Imagen 18"/>
          <p:cNvPicPr/>
          <p:nvPr/>
        </p:nvPicPr>
        <p:blipFill>
          <a:blip r:embed="rId8"/>
          <a:stretch/>
        </p:blipFill>
        <p:spPr>
          <a:xfrm>
            <a:off x="5186520" y="29296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Imagen 19"/>
          <p:cNvPicPr/>
          <p:nvPr/>
        </p:nvPicPr>
        <p:blipFill>
          <a:blip r:embed="rId9"/>
          <a:stretch/>
        </p:blipFill>
        <p:spPr>
          <a:xfrm>
            <a:off x="7505640" y="259236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Imagen 20"/>
          <p:cNvPicPr/>
          <p:nvPr/>
        </p:nvPicPr>
        <p:blipFill>
          <a:blip r:embed="rId10"/>
          <a:stretch/>
        </p:blipFill>
        <p:spPr>
          <a:xfrm>
            <a:off x="8419320" y="364644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Imagen 21"/>
          <p:cNvPicPr/>
          <p:nvPr/>
        </p:nvPicPr>
        <p:blipFill>
          <a:blip r:embed="rId11"/>
          <a:stretch/>
        </p:blipFill>
        <p:spPr>
          <a:xfrm>
            <a:off x="7505640" y="47422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Imagen 22"/>
          <p:cNvPicPr/>
          <p:nvPr/>
        </p:nvPicPr>
        <p:blipFill>
          <a:blip r:embed="rId12"/>
          <a:stretch/>
        </p:blipFill>
        <p:spPr>
          <a:xfrm>
            <a:off x="9684360" y="23788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Imagen 23"/>
          <p:cNvPicPr/>
          <p:nvPr/>
        </p:nvPicPr>
        <p:blipFill>
          <a:blip r:embed="rId13"/>
          <a:stretch/>
        </p:blipFill>
        <p:spPr>
          <a:xfrm>
            <a:off x="10780920" y="282204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Imagen 24"/>
          <p:cNvPicPr/>
          <p:nvPr/>
        </p:nvPicPr>
        <p:blipFill>
          <a:blip r:embed="rId14"/>
          <a:stretch/>
        </p:blipFill>
        <p:spPr>
          <a:xfrm>
            <a:off x="9684360" y="36280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Imagen 25"/>
          <p:cNvPicPr/>
          <p:nvPr/>
        </p:nvPicPr>
        <p:blipFill>
          <a:blip r:embed="rId15"/>
          <a:stretch/>
        </p:blipFill>
        <p:spPr>
          <a:xfrm>
            <a:off x="10780920" y="408528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Imagen 26"/>
          <p:cNvPicPr/>
          <p:nvPr/>
        </p:nvPicPr>
        <p:blipFill>
          <a:blip r:embed="rId16"/>
          <a:stretch/>
        </p:blipFill>
        <p:spPr>
          <a:xfrm>
            <a:off x="9684360" y="485532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Imagen 27"/>
          <p:cNvPicPr/>
          <p:nvPr/>
        </p:nvPicPr>
        <p:blipFill>
          <a:blip r:embed="rId17"/>
          <a:stretch/>
        </p:blipFill>
        <p:spPr>
          <a:xfrm>
            <a:off x="6058080" y="4545720"/>
            <a:ext cx="9144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Imagen 28"/>
          <p:cNvPicPr/>
          <p:nvPr/>
        </p:nvPicPr>
        <p:blipFill>
          <a:blip r:embed="rId18"/>
          <a:stretch/>
        </p:blipFill>
        <p:spPr>
          <a:xfrm>
            <a:off x="10785600" y="5439960"/>
            <a:ext cx="912960" cy="92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bg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bg"/>
          <p:cNvSpPr/>
          <p:nvPr/>
        </p:nvSpPr>
        <p:spPr>
          <a:xfrm>
            <a:off x="0" y="0"/>
            <a:ext cx="12187800" cy="59904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b20"/>
          <p:cNvSpPr/>
          <p:nvPr/>
        </p:nvSpPr>
        <p:spPr>
          <a:xfrm>
            <a:off x="299880" y="150120"/>
            <a:ext cx="1158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Built With Responsible AI at the Core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b21"/>
          <p:cNvSpPr/>
          <p:nvPr/>
        </p:nvSpPr>
        <p:spPr>
          <a:xfrm>
            <a:off x="299880" y="640080"/>
            <a:ext cx="1158804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All six Microsoft RAI principles implemented in code — not just documentation.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bg"/>
          <p:cNvSpPr/>
          <p:nvPr/>
        </p:nvSpPr>
        <p:spPr>
          <a:xfrm>
            <a:off x="200160" y="105012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bg"/>
          <p:cNvSpPr/>
          <p:nvPr/>
        </p:nvSpPr>
        <p:spPr>
          <a:xfrm>
            <a:off x="200160" y="1050120"/>
            <a:ext cx="3862080" cy="3888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b30"/>
          <p:cNvSpPr/>
          <p:nvPr/>
        </p:nvSpPr>
        <p:spPr>
          <a:xfrm>
            <a:off x="299880" y="114984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Fairness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b31"/>
          <p:cNvSpPr/>
          <p:nvPr/>
        </p:nvSpPr>
        <p:spPr>
          <a:xfrm>
            <a:off x="299880" y="145008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Users set their own reading level — no assumptions about capability.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bg"/>
          <p:cNvSpPr/>
          <p:nvPr/>
        </p:nvSpPr>
        <p:spPr>
          <a:xfrm>
            <a:off x="4163040" y="105012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bg"/>
          <p:cNvSpPr/>
          <p:nvPr/>
        </p:nvSpPr>
        <p:spPr>
          <a:xfrm>
            <a:off x="4163040" y="1050120"/>
            <a:ext cx="3862080" cy="3888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b32"/>
          <p:cNvSpPr/>
          <p:nvPr/>
        </p:nvSpPr>
        <p:spPr>
          <a:xfrm>
            <a:off x="4263120" y="114984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Safety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b33"/>
          <p:cNvSpPr/>
          <p:nvPr/>
        </p:nvSpPr>
        <p:spPr>
          <a:xfrm>
            <a:off x="4263120" y="145008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Azure Content Safety screens every input and output across text, speech, and voice.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bg"/>
          <p:cNvSpPr/>
          <p:nvPr/>
        </p:nvSpPr>
        <p:spPr>
          <a:xfrm>
            <a:off x="8125920" y="105012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bg"/>
          <p:cNvSpPr/>
          <p:nvPr/>
        </p:nvSpPr>
        <p:spPr>
          <a:xfrm>
            <a:off x="8125920" y="1050120"/>
            <a:ext cx="3862080" cy="38880"/>
          </a:xfrm>
          <a:prstGeom prst="rect">
            <a:avLst/>
          </a:prstGeom>
          <a:solidFill>
            <a:srgbClr val="2E8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b34"/>
          <p:cNvSpPr/>
          <p:nvPr/>
        </p:nvSpPr>
        <p:spPr>
          <a:xfrm>
            <a:off x="8226000" y="114984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8B57"/>
                </a:solidFill>
                <a:effectLst/>
                <a:uFillTx/>
                <a:latin typeface="Calibri"/>
              </a:rPr>
              <a:t>Privacy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b35"/>
          <p:cNvSpPr/>
          <p:nvPr/>
        </p:nvSpPr>
        <p:spPr>
          <a:xfrm>
            <a:off x="8226000" y="145008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Zero secrets in code; all data isolated by user partition key.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bg"/>
          <p:cNvSpPr/>
          <p:nvPr/>
        </p:nvSpPr>
        <p:spPr>
          <a:xfrm>
            <a:off x="200160" y="390384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bg"/>
          <p:cNvSpPr/>
          <p:nvPr/>
        </p:nvSpPr>
        <p:spPr>
          <a:xfrm>
            <a:off x="200160" y="3903840"/>
            <a:ext cx="3862080" cy="38880"/>
          </a:xfrm>
          <a:prstGeom prst="rect">
            <a:avLst/>
          </a:prstGeom>
          <a:solidFill>
            <a:srgbClr val="8A2B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b36"/>
          <p:cNvSpPr/>
          <p:nvPr/>
        </p:nvSpPr>
        <p:spPr>
          <a:xfrm>
            <a:off x="299880" y="400392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2BE2"/>
                </a:solidFill>
                <a:effectLst/>
                <a:uFillTx/>
                <a:latin typeface="Calibri"/>
              </a:rPr>
              <a:t>Inclusiveness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b37"/>
          <p:cNvSpPr/>
          <p:nvPr/>
        </p:nvSpPr>
        <p:spPr>
          <a:xfrm>
            <a:off x="299880" y="430416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TTS, Immersive Reader, dyslexia fonts, color overlays, and focus timers.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bg"/>
          <p:cNvSpPr/>
          <p:nvPr/>
        </p:nvSpPr>
        <p:spPr>
          <a:xfrm>
            <a:off x="4163040" y="390384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bg"/>
          <p:cNvSpPr/>
          <p:nvPr/>
        </p:nvSpPr>
        <p:spPr>
          <a:xfrm>
            <a:off x="4163040" y="3903840"/>
            <a:ext cx="3862080" cy="3888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b38"/>
          <p:cNvSpPr/>
          <p:nvPr/>
        </p:nvSpPr>
        <p:spPr>
          <a:xfrm>
            <a:off x="4263120" y="400392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Transparency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b39"/>
          <p:cNvSpPr/>
          <p:nvPr/>
        </p:nvSpPr>
        <p:spPr>
          <a:xfrm>
            <a:off x="4263120" y="430416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Every AI response carries an 'AI-Generated' badge — always visible.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bg"/>
          <p:cNvSpPr/>
          <p:nvPr/>
        </p:nvSpPr>
        <p:spPr>
          <a:xfrm>
            <a:off x="8125920" y="3903840"/>
            <a:ext cx="3862080" cy="2752920"/>
          </a:xfrm>
          <a:prstGeom prst="rect">
            <a:avLst/>
          </a:prstGeom>
          <a:solidFill>
            <a:srgbClr val="F5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bg"/>
          <p:cNvSpPr/>
          <p:nvPr/>
        </p:nvSpPr>
        <p:spPr>
          <a:xfrm>
            <a:off x="8125920" y="3903840"/>
            <a:ext cx="3862080" cy="38880"/>
          </a:xfrm>
          <a:prstGeom prst="rect">
            <a:avLst/>
          </a:prstGeom>
          <a:solidFill>
            <a:srgbClr val="DC14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b40"/>
          <p:cNvSpPr/>
          <p:nvPr/>
        </p:nvSpPr>
        <p:spPr>
          <a:xfrm>
            <a:off x="8226000" y="4003920"/>
            <a:ext cx="3661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DC143C"/>
                </a:solidFill>
                <a:effectLst/>
                <a:uFillTx/>
                <a:latin typeface="Calibri"/>
              </a:rPr>
              <a:t>Accountability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b41"/>
          <p:cNvSpPr/>
          <p:nvPr/>
        </p:nvSpPr>
        <p:spPr>
          <a:xfrm>
            <a:off x="8226000" y="4304160"/>
            <a:ext cx="366192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Every response has a Report button; flagged content stored for human review.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Gráfico 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70400" y="2241360"/>
            <a:ext cx="910440" cy="9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ráfico 1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630400" y="2239560"/>
            <a:ext cx="910440" cy="9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ráfico 1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01920" y="2141640"/>
            <a:ext cx="910440" cy="9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Gráfico 1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683360" y="4986720"/>
            <a:ext cx="910440" cy="9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ráfico 15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630400" y="4986720"/>
            <a:ext cx="910440" cy="9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Gráfico 16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601920" y="4986720"/>
            <a:ext cx="910440" cy="91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 1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F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 2"/>
          <p:cNvSpPr/>
          <p:nvPr/>
        </p:nvSpPr>
        <p:spPr>
          <a:xfrm>
            <a:off x="0" y="6548040"/>
            <a:ext cx="12187800" cy="30888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 3"/>
          <p:cNvSpPr/>
          <p:nvPr/>
        </p:nvSpPr>
        <p:spPr>
          <a:xfrm>
            <a:off x="0" y="0"/>
            <a:ext cx="99000" cy="6856920"/>
          </a:xfrm>
          <a:prstGeom prst="rect">
            <a:avLst/>
          </a:prstGeom>
          <a:solidFill>
            <a:srgbClr val="FFB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 1"/>
          <p:cNvSpPr/>
          <p:nvPr/>
        </p:nvSpPr>
        <p:spPr>
          <a:xfrm>
            <a:off x="200160" y="2049840"/>
            <a:ext cx="11787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Cognitive Load Reduction Copilot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 2"/>
          <p:cNvSpPr/>
          <p:nvPr/>
        </p:nvSpPr>
        <p:spPr>
          <a:xfrm>
            <a:off x="200160" y="2890080"/>
            <a:ext cx="117878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50B4FF"/>
                </a:solidFill>
                <a:effectLst/>
                <a:uFillTx/>
                <a:latin typeface="Calibri"/>
              </a:rPr>
              <a:t>Reducing cognitive load for neurodiverse users — one clear step at a time.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 4"/>
          <p:cNvSpPr/>
          <p:nvPr/>
        </p:nvSpPr>
        <p:spPr>
          <a:xfrm>
            <a:off x="4294440" y="3390120"/>
            <a:ext cx="3598920" cy="1476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 3"/>
          <p:cNvSpPr/>
          <p:nvPr/>
        </p:nvSpPr>
        <p:spPr>
          <a:xfrm>
            <a:off x="200160" y="3755880"/>
            <a:ext cx="294624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17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Azure Services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 4"/>
          <p:cNvSpPr/>
          <p:nvPr/>
        </p:nvSpPr>
        <p:spPr>
          <a:xfrm>
            <a:off x="3147120" y="3755880"/>
            <a:ext cx="294624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6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RAI Principles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 5"/>
          <p:cNvSpPr/>
          <p:nvPr/>
        </p:nvSpPr>
        <p:spPr>
          <a:xfrm>
            <a:off x="6094440" y="3755880"/>
            <a:ext cx="294624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3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AI Agents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 6"/>
          <p:cNvSpPr/>
          <p:nvPr/>
        </p:nvSpPr>
        <p:spPr>
          <a:xfrm>
            <a:off x="9041760" y="3755880"/>
            <a:ext cx="294624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FB900"/>
                </a:solidFill>
                <a:effectLst/>
                <a:uFillTx/>
                <a:latin typeface="Calibri"/>
              </a:rPr>
              <a:t>∞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5F9FF"/>
                </a:solidFill>
                <a:effectLst/>
                <a:uFillTx/>
                <a:latin typeface="Calibri"/>
              </a:rPr>
              <a:t>Accessibility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 7"/>
          <p:cNvSpPr/>
          <p:nvPr/>
        </p:nvSpPr>
        <p:spPr>
          <a:xfrm>
            <a:off x="200160" y="6572880"/>
            <a:ext cx="117878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Built on Azure AI Foundry  ·  Microsoft Agent Framework  ·  Fluent UI  ·  Zero Secrets  ·  Responsible AI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2026-03-28T00:12:08Z</dcterms:modified>
  <cp:revision>136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Personalizado</vt:lpwstr>
  </property>
  <property fmtid="{D5CDD505-2E9C-101B-9397-08002B2CF9AE}" pid="3" name="Slides">
    <vt:i4>9</vt:i4>
  </property>
</Properties>
</file>